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27A8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097280"/>
            <a:ext cx="5029200" cy="5029200"/>
          </a:xfrm>
          <a:prstGeom prst="ellipse">
            <a:avLst/>
          </a:prstGeom>
          <a:solidFill>
            <a:srgbClr val="027A8E">
              <a:alpha val="12000"/>
            </a:srgbClr>
          </a:solidFill>
          <a:ln w="12700">
            <a:solidFill>
              <a:srgbClr val="027A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E5982A">
              <a:alpha val="12000"/>
            </a:srgbClr>
          </a:solidFill>
          <a:ln w="12700">
            <a:solidFill>
              <a:srgbClr val="E598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384048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E5982A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3840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SYNOPTIC-ALIGNED v2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804672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Heat–Pollution Nexus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Mumbai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38912" y="26974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3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 Analysis — Synoptic-Period Aligned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3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Santacruz (43003) × Colaba (43057)  |  CPCB Data 2019–2025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" y="3611880"/>
            <a:ext cx="2468880" cy="402336"/>
          </a:xfrm>
          <a:prstGeom prst="roundRect">
            <a:avLst>
              <a:gd name="adj" fmla="val 22727"/>
            </a:avLst>
          </a:prstGeom>
          <a:solidFill>
            <a:srgbClr val="027A8E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361188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Santacruz (43003) — Inland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99232" y="3611880"/>
            <a:ext cx="2286000" cy="402336"/>
          </a:xfrm>
          <a:prstGeom prst="roundRect">
            <a:avLst>
              <a:gd name="adj" fmla="val 22727"/>
            </a:avLst>
          </a:prstGeom>
          <a:solidFill>
            <a:srgbClr val="4A7C6F"/>
          </a:solidFill>
          <a:ln/>
        </p:spPr>
      </p:sp>
      <p:sp>
        <p:nvSpPr>
          <p:cNvPr id="12" name="Text 10"/>
          <p:cNvSpPr/>
          <p:nvPr/>
        </p:nvSpPr>
        <p:spPr>
          <a:xfrm>
            <a:off x="2999232" y="361188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Colaba (43057) — Coastal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4224528"/>
            <a:ext cx="1993392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424281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PLOTS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" y="460857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15184" y="4224528"/>
            <a:ext cx="1993392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615184" y="424281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PERIODS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15184" y="460857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obs./day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91456" y="4224528"/>
            <a:ext cx="1993392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91456" y="424281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~8,467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91456" y="460857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Santacruz rows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67728" y="4224528"/>
            <a:ext cx="1993392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967728" y="424281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~5,493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67728" y="460857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Colaba rows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Synoptic Alignment Was Necessary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4114800" cy="475488"/>
          </a:xfrm>
          <a:prstGeom prst="rect">
            <a:avLst/>
          </a:prstGeom>
          <a:solidFill>
            <a:srgbClr val="C94040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498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— Unequal Sampling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3350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Santacruz rows: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10512" y="133502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~155,000  (8 synoptic periods/day)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88366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Colaba rows: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10512" y="18836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~55,000  (only 3 periods/day)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43230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10512" y="24323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2.8× more data for Santacruz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29809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10512" y="298094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nighttime / early-morning hours inflated cold-polluted winter observations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352958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10512" y="35295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PM2.5–HI, CO–HI correlations artificially exaggerated by ~10%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73168" y="749808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749808"/>
            <a:ext cx="4114800" cy="475488"/>
          </a:xfrm>
          <a:prstGeom prst="rect">
            <a:avLst/>
          </a:prstGeom>
          <a:solidFill>
            <a:srgbClr val="027A8E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7498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— Aligned Sampling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01184" y="13350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Santacruz rows: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7648" y="133502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~8,467  (filtered to 3 matching periods)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01184" y="188366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Colaba rows: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27648" y="18836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~5,493  (unchanged — control)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01184" y="243230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27648" y="24323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synoptic HR codes at both stations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01184" y="29809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27648" y="298094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cold-night sampling bias; both stations observe identical time windows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01184" y="352958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7648" y="35295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directly comparable correlations — valid for publication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70832" y="2212848"/>
            <a:ext cx="402336" cy="310896"/>
          </a:xfrm>
          <a:prstGeom prst="rect">
            <a:avLst/>
          </a:prstGeom>
          <a:solidFill>
            <a:srgbClr val="E5982A"/>
          </a:solidFill>
          <a:ln/>
        </p:spPr>
      </p:sp>
      <p:sp>
        <p:nvSpPr>
          <p:cNvPr id="31" name="Text 29"/>
          <p:cNvSpPr/>
          <p:nvPr/>
        </p:nvSpPr>
        <p:spPr>
          <a:xfrm>
            <a:off x="4370832" y="2212848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0" y="4315968"/>
            <a:ext cx="9144000" cy="512064"/>
          </a:xfrm>
          <a:prstGeom prst="rect">
            <a:avLst/>
          </a:prstGeom>
          <a:solidFill>
            <a:srgbClr val="D6F4F9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33425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Mam's correction: filter Santacruz to the 3 synoptic periods Colaba observes, then recompute all correlations. Colaba values confirmed identical — valid control.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7A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 After Alignment — Key Correlation Changes (Santacruz)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713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64208" y="71323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r_HI 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99232" y="71323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r_HI After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34256" y="7132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71323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r_PET Before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47104" y="71323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r_PET After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82128" y="7132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115568"/>
            <a:ext cx="87233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11556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64208" y="111556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-0.421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99232" y="111556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-0.376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34256" y="111556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111556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-0.113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47104" y="111556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82128" y="1115568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link was spurious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1536192"/>
            <a:ext cx="8723376" cy="402336"/>
          </a:xfrm>
          <a:prstGeom prst="rect">
            <a:avLst/>
          </a:prstGeom>
          <a:solidFill>
            <a:srgbClr val="F0F5F8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" y="1536192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64208" y="15361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-0.364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99232" y="15361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-0.317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34256" y="153619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15361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-0.074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47104" y="15361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882128" y="1536192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sign flipped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1956816"/>
            <a:ext cx="87233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1956816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64208" y="195681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-0.160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99232" y="195681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-0.157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34256" y="195681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195681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+0.073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47104" y="195681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+0.119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82128" y="1956816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link stronger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2377440"/>
            <a:ext cx="8723376" cy="402336"/>
          </a:xfrm>
          <a:prstGeom prst="rect">
            <a:avLst/>
          </a:prstGeom>
          <a:solidFill>
            <a:srgbClr val="F0F5F8"/>
          </a:solidFill>
          <a:ln/>
        </p:spPr>
      </p:sp>
      <p:sp>
        <p:nvSpPr>
          <p:cNvPr id="36" name="Text 34"/>
          <p:cNvSpPr/>
          <p:nvPr/>
        </p:nvSpPr>
        <p:spPr>
          <a:xfrm>
            <a:off x="292608" y="2377440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NH₃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664208" y="237744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-0.175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999232" y="237744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-0.158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334256" y="237744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12080" y="237744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-0.083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47104" y="237744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-0.047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882128" y="2377440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bias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" y="2798064"/>
            <a:ext cx="87233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292608" y="2798064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664208" y="279806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-0.069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999232" y="279806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-0.072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334256" y="279806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12080" y="279806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-0.005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547104" y="279806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882128" y="2798064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near-zero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56032" y="3218688"/>
            <a:ext cx="8723376" cy="402336"/>
          </a:xfrm>
          <a:prstGeom prst="rect">
            <a:avLst/>
          </a:prstGeom>
          <a:solidFill>
            <a:srgbClr val="F0F5F8"/>
          </a:solidFill>
          <a:ln/>
        </p:spPr>
      </p:sp>
      <p:sp>
        <p:nvSpPr>
          <p:cNvPr id="52" name="Text 50"/>
          <p:cNvSpPr/>
          <p:nvPr/>
        </p:nvSpPr>
        <p:spPr>
          <a:xfrm>
            <a:off x="292608" y="321868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664208" y="321868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-0.403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999232" y="321868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-0.366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334256" y="32186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12080" y="321868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-0.199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547104" y="321868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-0.121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882128" y="3218688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link halved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6032" y="3639312"/>
            <a:ext cx="87233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292608" y="3639312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664208" y="363931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+0.104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999232" y="363931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+0.056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334256" y="363931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-0.048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212080" y="363931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+0.175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547104" y="363931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882128" y="3639312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Overestimated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56032" y="4059936"/>
            <a:ext cx="8723376" cy="402336"/>
          </a:xfrm>
          <a:prstGeom prst="rect">
            <a:avLst/>
          </a:prstGeom>
          <a:solidFill>
            <a:srgbClr val="F0F5F8"/>
          </a:solidFill>
          <a:ln/>
        </p:spPr>
      </p:sp>
      <p:sp>
        <p:nvSpPr>
          <p:cNvPr id="68" name="Text 66"/>
          <p:cNvSpPr/>
          <p:nvPr/>
        </p:nvSpPr>
        <p:spPr>
          <a:xfrm>
            <a:off x="292608" y="4059936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AQI_max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1664208" y="405993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-0.370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2999232" y="405993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-0.324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334256" y="405993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+0.046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212080" y="405993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-0.080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547104" y="405993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+0.021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82128" y="4059936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sign flipped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56032" y="4480560"/>
            <a:ext cx="87233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292608" y="4480560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HAPSI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664208" y="448056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+0.942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2999232" y="448056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+0.955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4334256" y="448056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212080" y="448056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+0.899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6547104" y="448056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+0.879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7882128" y="4480560"/>
            <a:ext cx="1078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stronger ↑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Spearman Correlation Heatmap — Aligned Data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694944"/>
            <a:ext cx="8778240" cy="40050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D6F4F9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745736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HAPSI r=0.955 (HI) is the strongest signal — even stronger post-alignment. PM2.5 &amp; CO negative correlations reduced from ~−0.42/−0.40 to ~−0.38/−0.37, now bias-free.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7A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Station Comparison — Santacruz vs Colaba (Aligned)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94944"/>
            <a:ext cx="8595360" cy="35844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4352544"/>
            <a:ext cx="2761488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4352544"/>
            <a:ext cx="64008" cy="694944"/>
          </a:xfrm>
          <a:prstGeom prst="rect">
            <a:avLst/>
          </a:prstGeom>
          <a:solidFill>
            <a:srgbClr val="C94040"/>
          </a:solidFill>
          <a:ln/>
        </p:spPr>
      </p:sp>
      <p:sp>
        <p:nvSpPr>
          <p:cNvPr id="7" name="Text 4"/>
          <p:cNvSpPr/>
          <p:nvPr/>
        </p:nvSpPr>
        <p:spPr>
          <a:xfrm>
            <a:off x="393192" y="4370832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Santacruz still stronger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93192" y="462686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removing sampling bias, PM2.5–HI (−0.376) and CO–HI (−0.366) remain more negative than Colaba's −0.281 and −0.188 — a genuine inland vs coastal difference.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0" y="4352544"/>
            <a:ext cx="2761488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4352544"/>
            <a:ext cx="64008" cy="694944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11" name="Text 8"/>
          <p:cNvSpPr/>
          <p:nvPr/>
        </p:nvSpPr>
        <p:spPr>
          <a:xfrm>
            <a:off x="3337560" y="4370832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NO₂ pattern reversal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37560" y="462686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Colaba, NO₂–HI is −0.320 (stronger than Santacruz's −0.157), reflecting coastal traffic &amp; shipping emissions that the sea-breeze ties to cooler conditions.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144768" y="4352544"/>
            <a:ext cx="2761488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44768" y="4352544"/>
            <a:ext cx="64008" cy="694944"/>
          </a:xfrm>
          <a:prstGeom prst="rect">
            <a:avLst/>
          </a:prstGeom>
          <a:solidFill>
            <a:srgbClr val="E5982A"/>
          </a:solidFill>
          <a:ln/>
        </p:spPr>
      </p:sp>
      <p:sp>
        <p:nvSpPr>
          <p:cNvPr id="15" name="Text 12"/>
          <p:cNvSpPr/>
          <p:nvPr/>
        </p:nvSpPr>
        <p:spPr>
          <a:xfrm>
            <a:off x="6281928" y="4370832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HAPSI convergence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81928" y="462686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stations now show nearly identical HAPSI–HI strength (0.955 vs 0.943), confirming the composite index is location-robust when sampling is fair.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 Plots — Top Correlated Pollutants vs HI / PET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694944"/>
            <a:ext cx="886968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D6F4F9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78231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Santacruz n dropped from 11,088 → 8,467 after alignment. HAPSI–HI near-linear (r=0.955). PM2.5 &amp; CO scatter less extreme — fewer artificial cold-night outliers. Ozone positive slope with PET confirmed.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598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Spearman Correlation: Pollutants vs HI &amp; PET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694944"/>
            <a:ext cx="8778240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7258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HAPSI–HI: consistently 0.95–0.98 every month — robust, season-independent.   •   PM10 &amp; AQI_max shift to positive correlation with HI in Jul–Aug (monsoon washout effect).   •   Ozone shows positive r in Feb &amp; May–Jun (peak solar radiation months).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Pollutant Distribution by Thermal Stress Category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" y="69494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HI (Heat Index) Category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" y="987552"/>
            <a:ext cx="4462272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69494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PET Category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26864" y="987552"/>
            <a:ext cx="4443984" cy="3749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6402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&amp; AQI_max highest in Low Risk / Comfortable categories (cool seasons). HAPSI rises monotonically across all heat categories at both stations. Aligned Santacruz (n≈8,467) now consistent with Colaba.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Seasonal Spearman r — Pollutants vs HI &amp; PET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676656"/>
            <a:ext cx="8961120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626864"/>
            <a:ext cx="9144000" cy="512064"/>
          </a:xfrm>
          <a:prstGeom prst="rect">
            <a:avLst/>
          </a:prstGeom>
          <a:solidFill>
            <a:srgbClr val="D6F4F9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4515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(green) — PM10 &amp; AQI_max flip to positive HI correlation at Colaba: rain scavenges PM but residual pollutants co-occur with sustained heat.   |   Winter (blue) — CO dips deepest negative at Santacruz; Colaba's CO–HI also negative but shallower due to sea-breeze dilution.   |   Pre-monsoon — Ozone shows strongest positive r across both stations; peak photochemical production in hot, sunny conditions.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7A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Mean Time Series: Pollution &amp; Thermal Stress (2019–2025)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694944"/>
            <a:ext cx="8741664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D6F4F9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67258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pattern unchanged by alignment (monthly averages smooth out synoptic-period effects). PM2.5 &amp; AQI_max peak Nov–Feb; HI &amp; PET peak Apr–Jun. Clear inverse seasonality holds across all 6 years.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598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— Post-Alignment (Bias-Corrected)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502920" cy="694944"/>
          </a:xfrm>
          <a:prstGeom prst="rect">
            <a:avLst/>
          </a:prstGeom>
          <a:solidFill>
            <a:srgbClr val="027A8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749808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" y="749808"/>
            <a:ext cx="8119872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749808"/>
            <a:ext cx="7863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7A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HAPSI is even more robust: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sampling bias, HAPSI–HI r rose to 0.955 at Santacruz and holds at 0.943 at Colaba. It is the single most reliable thermal-pollution composite index across both stations and all seasons.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" y="1609344"/>
            <a:ext cx="502920" cy="694944"/>
          </a:xfrm>
          <a:prstGeom prst="rect">
            <a:avLst/>
          </a:prstGeom>
          <a:solidFill>
            <a:srgbClr val="C9404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609344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1609344"/>
            <a:ext cx="8119872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609344"/>
            <a:ext cx="7863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Particulate–heat inverse link is real, not exaggerated: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PM2.5–HI and CO–HI are both weaker after alignment (−0.376, −0.366 vs −0.421, −0.403) but remain statistically strong (p&lt;0.001). The winter-pollution / summer-heat trade-off is a genuine physical phenomenon.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468880"/>
            <a:ext cx="502920" cy="6949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2468880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" y="2468880"/>
            <a:ext cx="8119872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68880"/>
            <a:ext cx="7863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PET correlations were mostly artefactual for particulates: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PM2.5–PET and AQI_max–PET flipped sign after alignment (−0.113 → −0.016; −0.080 → +0.021). These near-zero post-alignment values mean PET is not a reliable predictor of particulate levels at Santacruz.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3328416"/>
            <a:ext cx="502920" cy="694944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3328416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672" y="3328416"/>
            <a:ext cx="8119872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328416"/>
            <a:ext cx="7863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7C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Ozone–heat link overestimated but directionally correct: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Ozone–HI dropped from +0.104 to +0.056 after removing extra nighttime hours (when NO₂ titration is absent). The positive direction is confirmed but effect size should be reported at the lower aligned value.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4187952"/>
            <a:ext cx="502920" cy="694944"/>
          </a:xfrm>
          <a:prstGeom prst="rect">
            <a:avLst/>
          </a:prstGeom>
          <a:solidFill>
            <a:srgbClr val="E5982A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4187952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4672" y="4187952"/>
            <a:ext cx="8119872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187952"/>
            <a:ext cx="7863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98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Coastal vs inland differences now cleanly separated: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Santacruz retains stronger PM2.5 &amp; CO–heat inversions (inland traffic/combustion). Colaba shows stronger NO₂–HI link (−0.320) from coastal shipping. Sea-breeze differentiation is a genuine, not sampling-driven, contrast.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7A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Policy Implications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98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Methodological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16736"/>
            <a:ext cx="201168" cy="201168"/>
          </a:xfrm>
          <a:prstGeom prst="ellipse">
            <a:avLst/>
          </a:prstGeom>
          <a:solidFill>
            <a:srgbClr val="E5982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11556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Synoptic period alignment is essential before comparing stations with different observation frequencies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2185416"/>
            <a:ext cx="201168" cy="201168"/>
          </a:xfrm>
          <a:prstGeom prst="ellipse">
            <a:avLst/>
          </a:prstGeom>
          <a:solidFill>
            <a:srgbClr val="E5982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98424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inflated by ~10% without alignment — critical for peer-reviewed claims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3054096"/>
            <a:ext cx="201168" cy="201168"/>
          </a:xfrm>
          <a:prstGeom prst="ellipse">
            <a:avLst/>
          </a:prstGeom>
          <a:solidFill>
            <a:srgbClr val="E5982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85292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HAPSI–HI remains the dominant signal and actually strengthens post-alignment (r=0.955)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922776"/>
            <a:ext cx="201168" cy="201168"/>
          </a:xfrm>
          <a:prstGeom prst="ellipse">
            <a:avLst/>
          </a:prstGeom>
          <a:solidFill>
            <a:srgbClr val="E5982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72160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is a weaker thermal correlate for particulates; HI is the more reliable index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7498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9D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Implications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316736"/>
            <a:ext cx="201168" cy="201168"/>
          </a:xfrm>
          <a:prstGeom prst="ellipse">
            <a:avLst/>
          </a:prstGeom>
          <a:solidFill>
            <a:srgbClr val="039DB5"/>
          </a:solidFill>
          <a:ln/>
        </p:spPr>
      </p:sp>
      <p:sp>
        <p:nvSpPr>
          <p:cNvPr id="15" name="Text 13"/>
          <p:cNvSpPr/>
          <p:nvPr/>
        </p:nvSpPr>
        <p:spPr>
          <a:xfrm>
            <a:off x="5138928" y="111556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double burden: peak PM + low HI — respiratory/cardiovascular advisories needed Nov–Feb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2185416"/>
            <a:ext cx="201168" cy="201168"/>
          </a:xfrm>
          <a:prstGeom prst="ellipse">
            <a:avLst/>
          </a:prstGeom>
          <a:solidFill>
            <a:srgbClr val="039DB5"/>
          </a:solidFill>
          <a:ln/>
        </p:spPr>
      </p:sp>
      <p:sp>
        <p:nvSpPr>
          <p:cNvPr id="17" name="Text 15"/>
          <p:cNvSpPr/>
          <p:nvPr/>
        </p:nvSpPr>
        <p:spPr>
          <a:xfrm>
            <a:off x="5138928" y="198424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single burden: high HI + low PM — heat-stress alerts and HAPSI-based public warnings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3054096"/>
            <a:ext cx="201168" cy="201168"/>
          </a:xfrm>
          <a:prstGeom prst="ellipse">
            <a:avLst/>
          </a:prstGeom>
          <a:solidFill>
            <a:srgbClr val="039DB5"/>
          </a:solidFill>
          <a:ln/>
        </p:spPr>
      </p:sp>
      <p:sp>
        <p:nvSpPr>
          <p:cNvPr id="19" name="Text 17"/>
          <p:cNvSpPr/>
          <p:nvPr/>
        </p:nvSpPr>
        <p:spPr>
          <a:xfrm>
            <a:off x="5138928" y="285292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 compound risk: pre-monsoon afternoons carry both heat and photochemical ozone — targeted monitoring required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922776"/>
            <a:ext cx="201168" cy="201168"/>
          </a:xfrm>
          <a:prstGeom prst="ellipse">
            <a:avLst/>
          </a:prstGeom>
          <a:solidFill>
            <a:srgbClr val="039DB5"/>
          </a:solidFill>
          <a:ln/>
        </p:spPr>
      </p:sp>
      <p:sp>
        <p:nvSpPr>
          <p:cNvPr id="21" name="Text 19"/>
          <p:cNvSpPr/>
          <p:nvPr/>
        </p:nvSpPr>
        <p:spPr>
          <a:xfrm>
            <a:off x="5138928" y="372160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Station-specific advisories: Colaba's coastal NO₂ profile needs different interventions than Santacruz's inland PM profile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027A8E">
              <a:alpha val="12000"/>
            </a:srgbClr>
          </a:solidFill>
          <a:ln w="12700">
            <a:solidFill>
              <a:srgbClr val="027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E5982A">
              <a:alpha val="12000"/>
            </a:srgbClr>
          </a:solidFill>
          <a:ln w="12700">
            <a:solidFill>
              <a:srgbClr val="E59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395728"/>
            <a:ext cx="2743200" cy="36576"/>
          </a:xfrm>
          <a:prstGeom prst="rect">
            <a:avLst/>
          </a:prstGeom>
          <a:solidFill>
            <a:srgbClr val="027A8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78608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3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Heat–Pollution Nexus in Mumbai  |  Synoptic-Aligned Analysis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03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Santacruz (43003) &amp; Colaba (43057)  |  CPCB 2019–2025  |  Spearman Correlation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584448"/>
            <a:ext cx="1901952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60273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95020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HAPSI–HI (Santacruz)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87752" y="3584448"/>
            <a:ext cx="1901952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360273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87752" y="395020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HAPSI–HI (Colaba)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72584" y="3584448"/>
            <a:ext cx="1901952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672584" y="360273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−0.376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72584" y="395020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PM2.5–HI (aligned)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57416" y="3584448"/>
            <a:ext cx="1901952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757416" y="360273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periods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57416" y="395020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Synoptic match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implemented as per Jaya Mam's guidance on synoptic period alignment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Mumbai Heat-Pollution Nexus — Aligned Dataset (2019-2025)</dc:title>
  <dc:subject>PptxGenJS Presentation</dc:subject>
  <dc:creator>PptxGenJS</dc:creator>
  <cp:lastModifiedBy>PptxGenJS</cp:lastModifiedBy>
  <cp:revision>1</cp:revision>
  <dcterms:created xsi:type="dcterms:W3CDTF">2026-03-19T21:25:17Z</dcterms:created>
  <dcterms:modified xsi:type="dcterms:W3CDTF">2026-03-19T21:25:17Z</dcterms:modified>
</cp:coreProperties>
</file>